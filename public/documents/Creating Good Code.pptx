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</p:sldIdLst>
  <p:sldSz cy="6858000" cx="9144000"/>
  <p:notesSz cx="6858000" cy="9144000"/>
  <p:embeddedFontLst>
    <p:embeddedFont>
      <p:font typeface="Raleway"/>
      <p:regular r:id="rId17"/>
      <p:bold r:id="rId18"/>
      <p:italic r:id="rId19"/>
      <p:boldItalic r:id="rId20"/>
    </p:embeddedFont>
    <p:embeddedFont>
      <p:font typeface="Lato"/>
      <p:regular r:id="rId21"/>
      <p:bold r:id="rId22"/>
      <p:italic r:id="rId23"/>
      <p:boldItalic r:id="rId2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Raleway-boldItalic.fntdata"/><Relationship Id="rId11" Type="http://schemas.openxmlformats.org/officeDocument/2006/relationships/slide" Target="slides/slide7.xml"/><Relationship Id="rId22" Type="http://schemas.openxmlformats.org/officeDocument/2006/relationships/font" Target="fonts/Lato-bold.fntdata"/><Relationship Id="rId10" Type="http://schemas.openxmlformats.org/officeDocument/2006/relationships/slide" Target="slides/slide6.xml"/><Relationship Id="rId21" Type="http://schemas.openxmlformats.org/officeDocument/2006/relationships/font" Target="fonts/Lato-regular.fntdata"/><Relationship Id="rId13" Type="http://schemas.openxmlformats.org/officeDocument/2006/relationships/slide" Target="slides/slide9.xml"/><Relationship Id="rId24" Type="http://schemas.openxmlformats.org/officeDocument/2006/relationships/font" Target="fonts/Lato-boldItalic.fntdata"/><Relationship Id="rId12" Type="http://schemas.openxmlformats.org/officeDocument/2006/relationships/slide" Target="slides/slide8.xml"/><Relationship Id="rId23" Type="http://schemas.openxmlformats.org/officeDocument/2006/relationships/font" Target="fonts/Lato-italic.fnt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font" Target="fonts/Raleway-regular.fntdata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19" Type="http://schemas.openxmlformats.org/officeDocument/2006/relationships/font" Target="fonts/Raleway-italic.fntdata"/><Relationship Id="rId6" Type="http://schemas.openxmlformats.org/officeDocument/2006/relationships/slide" Target="slides/slide2.xml"/><Relationship Id="rId18" Type="http://schemas.openxmlformats.org/officeDocument/2006/relationships/font" Target="fonts/Raleway-bold.fntdata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cb9a0b074_1_0:notes"/>
          <p:cNvSpPr/>
          <p:nvPr>
            <p:ph idx="2" type="sldImg"/>
          </p:nvPr>
        </p:nvSpPr>
        <p:spPr>
          <a:xfrm>
            <a:off x="11433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cb9a0b074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d5b15f0a3_5_26:notes"/>
          <p:cNvSpPr/>
          <p:nvPr>
            <p:ph idx="2" type="sldImg"/>
          </p:nvPr>
        </p:nvSpPr>
        <p:spPr>
          <a:xfrm>
            <a:off x="11433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d5b15f0a3_5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Introduction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makes me good for this position?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I’ve self taught myself majority of the technologies that I employ in my work.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Started learning Java at 10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Us</a:t>
            </a:r>
            <a:r>
              <a:rPr lang="en"/>
              <a:t>ing linux for 6 years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Experience picking up many different technologies as needed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Made websites, binary applications, managed servers for CMS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54eacda0dc_0_5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54eacda0dc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I wanted to talk about today is “Good Code”.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 have experience programming under different circ</a:t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54eacda0dc_0_72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54eacda0dc_0_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54eacda0dc_0_9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54eacda0dc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54eacda0dc_0_26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54eacda0dc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54eacda0dc_0_19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54eacda0dc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54eacda0dc_0_47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" name="Google Shape;113;g54eacda0dc_0_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54eacda0dc_0_39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" name="Google Shape;120;g54eacda0dc_0_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54eacda0dc_0_55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" name="Google Shape;127;g54eacda0dc_0_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54eacda0dc_0_60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" name="Google Shape;133;g54eacda0dc_0_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54eacda0dc_0_67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" name="Google Shape;139;g54eacda0dc_0_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dk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Google Shape;10;p2"/>
          <p:cNvCxnSpPr/>
          <p:nvPr/>
        </p:nvCxnSpPr>
        <p:spPr>
          <a:xfrm>
            <a:off x="2477724" y="554200"/>
            <a:ext cx="6244200" cy="0"/>
          </a:xfrm>
          <a:prstGeom prst="straightConnector1">
            <a:avLst/>
          </a:prstGeom>
          <a:noFill/>
          <a:ln cap="flat" cmpd="sng" w="381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" name="Google Shape;11;p2"/>
          <p:cNvCxnSpPr/>
          <p:nvPr/>
        </p:nvCxnSpPr>
        <p:spPr>
          <a:xfrm>
            <a:off x="2477724" y="6320000"/>
            <a:ext cx="62442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2" name="Google Shape;12;p2"/>
          <p:cNvCxnSpPr/>
          <p:nvPr/>
        </p:nvCxnSpPr>
        <p:spPr>
          <a:xfrm>
            <a:off x="425198" y="554200"/>
            <a:ext cx="183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" name="Google Shape;13;p2"/>
          <p:cNvSpPr txBox="1"/>
          <p:nvPr>
            <p:ph type="ctrTitle"/>
          </p:nvPr>
        </p:nvSpPr>
        <p:spPr>
          <a:xfrm>
            <a:off x="2371725" y="840300"/>
            <a:ext cx="6331500" cy="205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1" type="subTitle"/>
          </p:nvPr>
        </p:nvSpPr>
        <p:spPr>
          <a:xfrm>
            <a:off x="2390267" y="4317933"/>
            <a:ext cx="6331500" cy="16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5" name="Google Shape;15;p2"/>
          <p:cNvSpPr txBox="1"/>
          <p:nvPr>
            <p:ph idx="12" type="sldNum"/>
          </p:nvPr>
        </p:nvSpPr>
        <p:spPr>
          <a:xfrm>
            <a:off x="8497999" y="6251679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" name="Google Shape;17;p3"/>
          <p:cNvCxnSpPr/>
          <p:nvPr/>
        </p:nvCxnSpPr>
        <p:spPr>
          <a:xfrm>
            <a:off x="425200" y="554200"/>
            <a:ext cx="8296800" cy="0"/>
          </a:xfrm>
          <a:prstGeom prst="straightConnector1">
            <a:avLst/>
          </a:prstGeom>
          <a:noFill/>
          <a:ln cap="flat" cmpd="sng" w="381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8" name="Google Shape;18;p3"/>
          <p:cNvCxnSpPr/>
          <p:nvPr/>
        </p:nvCxnSpPr>
        <p:spPr>
          <a:xfrm>
            <a:off x="425200" y="6320000"/>
            <a:ext cx="82968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9" name="Google Shape;19;p3"/>
          <p:cNvSpPr txBox="1"/>
          <p:nvPr>
            <p:ph type="title"/>
          </p:nvPr>
        </p:nvSpPr>
        <p:spPr>
          <a:xfrm>
            <a:off x="406425" y="2409100"/>
            <a:ext cx="8296800" cy="2055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8497999" y="6251679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" name="Google Shape;22;p4"/>
          <p:cNvCxnSpPr/>
          <p:nvPr/>
        </p:nvCxnSpPr>
        <p:spPr>
          <a:xfrm>
            <a:off x="2477724" y="554200"/>
            <a:ext cx="6244200" cy="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3" name="Google Shape;23;p4"/>
          <p:cNvCxnSpPr/>
          <p:nvPr/>
        </p:nvCxnSpPr>
        <p:spPr>
          <a:xfrm>
            <a:off x="2477724" y="6320000"/>
            <a:ext cx="62442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4" name="Google Shape;24;p4"/>
          <p:cNvCxnSpPr/>
          <p:nvPr/>
        </p:nvCxnSpPr>
        <p:spPr>
          <a:xfrm>
            <a:off x="425198" y="554200"/>
            <a:ext cx="183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5" name="Google Shape;25;p4"/>
          <p:cNvSpPr txBox="1"/>
          <p:nvPr>
            <p:ph type="title"/>
          </p:nvPr>
        </p:nvSpPr>
        <p:spPr>
          <a:xfrm>
            <a:off x="2400250" y="767933"/>
            <a:ext cx="6321600" cy="84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" type="body"/>
          </p:nvPr>
        </p:nvSpPr>
        <p:spPr>
          <a:xfrm>
            <a:off x="2410112" y="2127701"/>
            <a:ext cx="6321600" cy="400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7" name="Google Shape;27;p4"/>
          <p:cNvSpPr txBox="1"/>
          <p:nvPr>
            <p:ph idx="12" type="sldNum"/>
          </p:nvPr>
        </p:nvSpPr>
        <p:spPr>
          <a:xfrm>
            <a:off x="8497999" y="6251679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9" name="Google Shape;29;p5"/>
          <p:cNvCxnSpPr/>
          <p:nvPr/>
        </p:nvCxnSpPr>
        <p:spPr>
          <a:xfrm>
            <a:off x="2477724" y="554200"/>
            <a:ext cx="6244200" cy="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0" name="Google Shape;30;p5"/>
          <p:cNvCxnSpPr/>
          <p:nvPr/>
        </p:nvCxnSpPr>
        <p:spPr>
          <a:xfrm>
            <a:off x="2477724" y="6320000"/>
            <a:ext cx="62442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1" name="Google Shape;31;p5"/>
          <p:cNvCxnSpPr/>
          <p:nvPr/>
        </p:nvCxnSpPr>
        <p:spPr>
          <a:xfrm>
            <a:off x="425198" y="554200"/>
            <a:ext cx="183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2" name="Google Shape;32;p5"/>
          <p:cNvSpPr txBox="1"/>
          <p:nvPr>
            <p:ph type="title"/>
          </p:nvPr>
        </p:nvSpPr>
        <p:spPr>
          <a:xfrm>
            <a:off x="2400250" y="767933"/>
            <a:ext cx="6321600" cy="84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3" name="Google Shape;33;p5"/>
          <p:cNvSpPr txBox="1"/>
          <p:nvPr>
            <p:ph idx="1" type="body"/>
          </p:nvPr>
        </p:nvSpPr>
        <p:spPr>
          <a:xfrm>
            <a:off x="2400303" y="2136900"/>
            <a:ext cx="3071400" cy="400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4" name="Google Shape;34;p5"/>
          <p:cNvSpPr txBox="1"/>
          <p:nvPr>
            <p:ph idx="2" type="body"/>
          </p:nvPr>
        </p:nvSpPr>
        <p:spPr>
          <a:xfrm>
            <a:off x="5650572" y="2136900"/>
            <a:ext cx="3071400" cy="400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5" name="Google Shape;35;p5"/>
          <p:cNvSpPr txBox="1"/>
          <p:nvPr>
            <p:ph idx="12" type="sldNum"/>
          </p:nvPr>
        </p:nvSpPr>
        <p:spPr>
          <a:xfrm>
            <a:off x="8497999" y="6251679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6"/>
          <p:cNvSpPr txBox="1"/>
          <p:nvPr>
            <p:ph type="title"/>
          </p:nvPr>
        </p:nvSpPr>
        <p:spPr>
          <a:xfrm>
            <a:off x="303300" y="548767"/>
            <a:ext cx="8520600" cy="85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2" type="sldNum"/>
          </p:nvPr>
        </p:nvSpPr>
        <p:spPr>
          <a:xfrm>
            <a:off x="8497999" y="6251679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0" name="Google Shape;40;p7"/>
          <p:cNvCxnSpPr/>
          <p:nvPr/>
        </p:nvCxnSpPr>
        <p:spPr>
          <a:xfrm>
            <a:off x="425198" y="554200"/>
            <a:ext cx="183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1" name="Google Shape;41;p7"/>
          <p:cNvSpPr txBox="1"/>
          <p:nvPr>
            <p:ph type="title"/>
          </p:nvPr>
        </p:nvSpPr>
        <p:spPr>
          <a:xfrm>
            <a:off x="319500" y="1248800"/>
            <a:ext cx="2808000" cy="100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319500" y="2462405"/>
            <a:ext cx="2808000" cy="37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3" name="Google Shape;43;p7"/>
          <p:cNvSpPr txBox="1"/>
          <p:nvPr>
            <p:ph idx="12" type="sldNum"/>
          </p:nvPr>
        </p:nvSpPr>
        <p:spPr>
          <a:xfrm>
            <a:off x="8497999" y="6251679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rgbClr val="353535"/>
        </a:solidFill>
      </p:bgPr>
    </p:bg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5" name="Google Shape;45;p8"/>
          <p:cNvCxnSpPr/>
          <p:nvPr/>
        </p:nvCxnSpPr>
        <p:spPr>
          <a:xfrm>
            <a:off x="425198" y="554200"/>
            <a:ext cx="183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6" name="Google Shape;46;p8"/>
          <p:cNvSpPr txBox="1"/>
          <p:nvPr>
            <p:ph type="title"/>
          </p:nvPr>
        </p:nvSpPr>
        <p:spPr>
          <a:xfrm>
            <a:off x="283103" y="949521"/>
            <a:ext cx="6244200" cy="511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7" name="Google Shape;47;p8"/>
          <p:cNvSpPr txBox="1"/>
          <p:nvPr>
            <p:ph idx="12" type="sldNum"/>
          </p:nvPr>
        </p:nvSpPr>
        <p:spPr>
          <a:xfrm>
            <a:off x="8497999" y="6251679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9"/>
          <p:cNvSpPr/>
          <p:nvPr/>
        </p:nvSpPr>
        <p:spPr>
          <a:xfrm>
            <a:off x="4572000" y="167"/>
            <a:ext cx="4572000" cy="68580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50" name="Google Shape;50;p9"/>
          <p:cNvCxnSpPr/>
          <p:nvPr/>
        </p:nvCxnSpPr>
        <p:spPr>
          <a:xfrm>
            <a:off x="5029675" y="59940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1" name="Google Shape;51;p9"/>
          <p:cNvSpPr txBox="1"/>
          <p:nvPr>
            <p:ph type="title"/>
          </p:nvPr>
        </p:nvSpPr>
        <p:spPr>
          <a:xfrm>
            <a:off x="265500" y="1863133"/>
            <a:ext cx="4045200" cy="175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52" name="Google Shape;52;p9"/>
          <p:cNvSpPr txBox="1"/>
          <p:nvPr>
            <p:ph idx="1" type="subTitle"/>
          </p:nvPr>
        </p:nvSpPr>
        <p:spPr>
          <a:xfrm>
            <a:off x="265500" y="3647161"/>
            <a:ext cx="4045200" cy="179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53" name="Google Shape;53;p9"/>
          <p:cNvSpPr txBox="1"/>
          <p:nvPr>
            <p:ph idx="2" type="body"/>
          </p:nvPr>
        </p:nvSpPr>
        <p:spPr>
          <a:xfrm>
            <a:off x="4939500" y="965600"/>
            <a:ext cx="3837000" cy="4926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 rtl="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4" name="Google Shape;54;p9"/>
          <p:cNvSpPr txBox="1"/>
          <p:nvPr>
            <p:ph idx="12" type="sldNum"/>
          </p:nvPr>
        </p:nvSpPr>
        <p:spPr>
          <a:xfrm>
            <a:off x="8497999" y="6251679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6" name="Google Shape;56;p10"/>
          <p:cNvCxnSpPr/>
          <p:nvPr/>
        </p:nvCxnSpPr>
        <p:spPr>
          <a:xfrm>
            <a:off x="425200" y="6320000"/>
            <a:ext cx="82968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7" name="Google Shape;57;p10"/>
          <p:cNvCxnSpPr/>
          <p:nvPr/>
        </p:nvCxnSpPr>
        <p:spPr>
          <a:xfrm>
            <a:off x="425198" y="554200"/>
            <a:ext cx="183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8" name="Google Shape;58;p10"/>
          <p:cNvSpPr txBox="1"/>
          <p:nvPr>
            <p:ph idx="1" type="body"/>
          </p:nvPr>
        </p:nvSpPr>
        <p:spPr>
          <a:xfrm>
            <a:off x="328017" y="5634700"/>
            <a:ext cx="83886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59" name="Google Shape;59;p10"/>
          <p:cNvSpPr txBox="1"/>
          <p:nvPr>
            <p:ph idx="12" type="sldNum"/>
          </p:nvPr>
        </p:nvSpPr>
        <p:spPr>
          <a:xfrm>
            <a:off x="8497999" y="6251679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1" name="Google Shape;61;p11"/>
          <p:cNvCxnSpPr/>
          <p:nvPr/>
        </p:nvCxnSpPr>
        <p:spPr>
          <a:xfrm>
            <a:off x="425200" y="6320000"/>
            <a:ext cx="82968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2" name="Google Shape;62;p11"/>
          <p:cNvCxnSpPr/>
          <p:nvPr/>
        </p:nvCxnSpPr>
        <p:spPr>
          <a:xfrm>
            <a:off x="425200" y="554200"/>
            <a:ext cx="8296800" cy="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3" name="Google Shape;63;p11"/>
          <p:cNvSpPr txBox="1"/>
          <p:nvPr>
            <p:ph hasCustomPrompt="1" type="title"/>
          </p:nvPr>
        </p:nvSpPr>
        <p:spPr>
          <a:xfrm>
            <a:off x="853950" y="1739800"/>
            <a:ext cx="7436100" cy="2051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r>
              <a:t>xx%</a:t>
            </a:r>
          </a:p>
        </p:txBody>
      </p:sp>
      <p:sp>
        <p:nvSpPr>
          <p:cNvPr id="64" name="Google Shape;64;p11"/>
          <p:cNvSpPr txBox="1"/>
          <p:nvPr>
            <p:ph idx="1" type="body"/>
          </p:nvPr>
        </p:nvSpPr>
        <p:spPr>
          <a:xfrm>
            <a:off x="853950" y="3892600"/>
            <a:ext cx="7436100" cy="142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5" name="Google Shape;65;p11"/>
          <p:cNvSpPr txBox="1"/>
          <p:nvPr>
            <p:ph idx="12" type="sldNum"/>
          </p:nvPr>
        </p:nvSpPr>
        <p:spPr>
          <a:xfrm>
            <a:off x="8497999" y="6251679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2"/>
          <p:cNvSpPr txBox="1"/>
          <p:nvPr>
            <p:ph idx="12" type="sldNum"/>
          </p:nvPr>
        </p:nvSpPr>
        <p:spPr>
          <a:xfrm>
            <a:off x="8497999" y="6251679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wiss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400250" y="767933"/>
            <a:ext cx="6321600" cy="84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2410112" y="2127701"/>
            <a:ext cx="6321600" cy="400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ato"/>
              <a:buChar char="●"/>
              <a:defRPr sz="18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317500" lvl="1" marL="914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○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317500" lvl="2" marL="1371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■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317500" lvl="3" marL="1828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●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317500" lvl="4" marL="22860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○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317500" lvl="5" marL="27432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■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317500" lvl="6" marL="3200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●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317500" lvl="7" marL="3657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○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317500" lvl="8" marL="4114800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Lato"/>
              <a:buChar char="■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97999" y="6251679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rtl="0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rtl="0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rtl="0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rtl="0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rtl="0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rtl="0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rtl="0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rtl="0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3"/>
          <p:cNvSpPr txBox="1"/>
          <p:nvPr>
            <p:ph type="ctrTitle"/>
          </p:nvPr>
        </p:nvSpPr>
        <p:spPr>
          <a:xfrm>
            <a:off x="1924725" y="840300"/>
            <a:ext cx="6778500" cy="205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Technology Discover Graduate Programme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Vodafone</a:t>
            </a:r>
            <a:endParaRPr/>
          </a:p>
        </p:txBody>
      </p:sp>
      <p:sp>
        <p:nvSpPr>
          <p:cNvPr id="73" name="Google Shape;73;p13"/>
          <p:cNvSpPr txBox="1"/>
          <p:nvPr>
            <p:ph idx="1" type="subTitle"/>
          </p:nvPr>
        </p:nvSpPr>
        <p:spPr>
          <a:xfrm>
            <a:off x="2390267" y="4317933"/>
            <a:ext cx="6331500" cy="16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Kirill Nevzorov</a:t>
            </a:r>
            <a:endParaRPr b="1" sz="24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4"/>
          <p:cNvSpPr txBox="1"/>
          <p:nvPr>
            <p:ph idx="4294967295" type="title"/>
          </p:nvPr>
        </p:nvSpPr>
        <p:spPr>
          <a:xfrm>
            <a:off x="535775" y="720933"/>
            <a:ext cx="5197200" cy="1023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en" sz="3600">
                <a:solidFill>
                  <a:schemeClr val="dk1"/>
                </a:solidFill>
              </a:rPr>
              <a:t>Who am I</a:t>
            </a:r>
            <a:endParaRPr sz="2400"/>
          </a:p>
        </p:txBody>
      </p:sp>
      <p:sp>
        <p:nvSpPr>
          <p:cNvPr id="79" name="Google Shape;79;p14"/>
          <p:cNvSpPr txBox="1"/>
          <p:nvPr>
            <p:ph idx="4294967295" type="title"/>
          </p:nvPr>
        </p:nvSpPr>
        <p:spPr>
          <a:xfrm>
            <a:off x="535775" y="1516333"/>
            <a:ext cx="5197200" cy="408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Font typeface="Lato"/>
              <a:buChar char="●"/>
            </a:pPr>
            <a:r>
              <a:rPr b="0" lang="en" sz="1800">
                <a:latin typeface="Lato"/>
                <a:ea typeface="Lato"/>
                <a:cs typeface="Lato"/>
                <a:sym typeface="Lato"/>
              </a:rPr>
              <a:t>Passionate Unix-based developer</a:t>
            </a:r>
            <a:endParaRPr b="0" sz="1800">
              <a:latin typeface="Lato"/>
              <a:ea typeface="Lato"/>
              <a:cs typeface="Lato"/>
              <a:sym typeface="Lato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Lato"/>
              <a:buChar char="●"/>
            </a:pPr>
            <a:r>
              <a:rPr b="0" lang="en" sz="1800">
                <a:latin typeface="Lato"/>
                <a:ea typeface="Lato"/>
                <a:cs typeface="Lato"/>
                <a:sym typeface="Lato"/>
              </a:rPr>
              <a:t>Code quality advocate</a:t>
            </a:r>
            <a:endParaRPr b="0" sz="1800">
              <a:latin typeface="Lato"/>
              <a:ea typeface="Lato"/>
              <a:cs typeface="Lato"/>
              <a:sym typeface="Lato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Lato"/>
              <a:buChar char="●"/>
            </a:pPr>
            <a:r>
              <a:rPr b="0" lang="en" sz="1800">
                <a:latin typeface="Lato"/>
                <a:ea typeface="Lato"/>
                <a:cs typeface="Lato"/>
                <a:sym typeface="Lato"/>
              </a:rPr>
              <a:t>Flexible learner</a:t>
            </a:r>
            <a:endParaRPr b="0" sz="1800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b="0" sz="1800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b="0" sz="1800">
              <a:latin typeface="Lato"/>
              <a:ea typeface="Lato"/>
              <a:cs typeface="Lato"/>
              <a:sym typeface="Lato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Font typeface="Lato"/>
              <a:buChar char="●"/>
            </a:pPr>
            <a:r>
              <a:rPr b="0" lang="en" sz="1800">
                <a:latin typeface="Lato"/>
                <a:ea typeface="Lato"/>
                <a:cs typeface="Lato"/>
                <a:sym typeface="Lato"/>
              </a:rPr>
              <a:t>10 years of Java experience</a:t>
            </a:r>
            <a:endParaRPr b="0" sz="1800">
              <a:latin typeface="Lato"/>
              <a:ea typeface="Lato"/>
              <a:cs typeface="Lato"/>
              <a:sym typeface="Lato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Lato"/>
              <a:buChar char="●"/>
            </a:pPr>
            <a:r>
              <a:rPr b="0" lang="en" sz="1800">
                <a:latin typeface="Lato"/>
                <a:ea typeface="Lato"/>
                <a:cs typeface="Lato"/>
                <a:sym typeface="Lato"/>
              </a:rPr>
              <a:t>Gap year in IT/Programming for a London based Law firm (CMS CMNO)</a:t>
            </a:r>
            <a:endParaRPr b="0" sz="1800">
              <a:latin typeface="Lato"/>
              <a:ea typeface="Lato"/>
              <a:cs typeface="Lato"/>
              <a:sym typeface="Lato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Lato"/>
              <a:buChar char="●"/>
            </a:pPr>
            <a:r>
              <a:rPr b="0" lang="en" sz="1800">
                <a:latin typeface="Lato"/>
                <a:ea typeface="Lato"/>
                <a:cs typeface="Lato"/>
                <a:sym typeface="Lato"/>
              </a:rPr>
              <a:t>Experience in Bash/C/C++/Python/</a:t>
            </a:r>
            <a:r>
              <a:rPr b="0" lang="en" sz="1800">
                <a:latin typeface="Lato"/>
                <a:ea typeface="Lato"/>
                <a:cs typeface="Lato"/>
                <a:sym typeface="Lato"/>
              </a:rPr>
              <a:t>Web and other languages</a:t>
            </a:r>
            <a:endParaRPr b="0" sz="1800">
              <a:latin typeface="Lato"/>
              <a:ea typeface="Lato"/>
              <a:cs typeface="Lato"/>
              <a:sym typeface="Lato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Lato"/>
              <a:buChar char="●"/>
            </a:pPr>
            <a:r>
              <a:rPr b="0" lang="en" sz="1800">
                <a:latin typeface="Lato"/>
                <a:ea typeface="Lato"/>
                <a:cs typeface="Lato"/>
                <a:sym typeface="Lato"/>
              </a:rPr>
              <a:t>Wide range of technologies, from desktop and systems programming to Unix and Windows administration (devops)</a:t>
            </a:r>
            <a:endParaRPr b="0" sz="18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80" name="Google Shape;80;p14"/>
          <p:cNvSpPr txBox="1"/>
          <p:nvPr>
            <p:ph idx="4294967295" type="title"/>
          </p:nvPr>
        </p:nvSpPr>
        <p:spPr>
          <a:xfrm>
            <a:off x="535775" y="2930733"/>
            <a:ext cx="5197200" cy="1023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en" sz="3600">
                <a:solidFill>
                  <a:schemeClr val="dk1"/>
                </a:solidFill>
              </a:rPr>
              <a:t>Experience</a:t>
            </a:r>
            <a:endParaRPr sz="24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5"/>
          <p:cNvSpPr txBox="1"/>
          <p:nvPr>
            <p:ph type="title"/>
          </p:nvPr>
        </p:nvSpPr>
        <p:spPr>
          <a:xfrm>
            <a:off x="301774" y="914400"/>
            <a:ext cx="8340900" cy="511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Creating</a:t>
            </a:r>
            <a:r>
              <a:rPr lang="en" sz="6000"/>
              <a:t> </a:t>
            </a:r>
            <a:r>
              <a:rPr lang="en" sz="6000">
                <a:solidFill>
                  <a:schemeClr val="dk1"/>
                </a:solidFill>
              </a:rPr>
              <a:t>good code</a:t>
            </a:r>
            <a:r>
              <a:rPr lang="en" sz="6000"/>
              <a:t>,</a:t>
            </a:r>
            <a:endParaRPr sz="6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       a </a:t>
            </a:r>
            <a:r>
              <a:rPr lang="en" sz="6000">
                <a:solidFill>
                  <a:schemeClr val="dk1"/>
                </a:solidFill>
              </a:rPr>
              <a:t>5 minute</a:t>
            </a:r>
            <a:r>
              <a:rPr lang="en"/>
              <a:t> lesson: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How </a:t>
            </a:r>
            <a:r>
              <a:rPr lang="en">
                <a:solidFill>
                  <a:schemeClr val="dk1"/>
                </a:solidFill>
              </a:rPr>
              <a:t>aesthetics</a:t>
            </a:r>
            <a:r>
              <a:rPr lang="en"/>
              <a:t>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             </a:t>
            </a:r>
            <a:r>
              <a:rPr lang="en">
                <a:solidFill>
                  <a:schemeClr val="dk1"/>
                </a:solidFill>
              </a:rPr>
              <a:t>produce</a:t>
            </a:r>
            <a:r>
              <a:rPr lang="en"/>
              <a:t> </a:t>
            </a:r>
            <a:r>
              <a:rPr lang="en"/>
              <a:t>programs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which are </a:t>
            </a:r>
            <a:r>
              <a:rPr lang="en">
                <a:solidFill>
                  <a:schemeClr val="dk1"/>
                </a:solidFill>
              </a:rPr>
              <a:t>easy</a:t>
            </a:r>
            <a:r>
              <a:rPr lang="en"/>
              <a:t>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             to </a:t>
            </a:r>
            <a:r>
              <a:rPr lang="en">
                <a:solidFill>
                  <a:schemeClr val="dk1"/>
                </a:solidFill>
              </a:rPr>
              <a:t>code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6"/>
          <p:cNvSpPr txBox="1"/>
          <p:nvPr>
            <p:ph type="title"/>
          </p:nvPr>
        </p:nvSpPr>
        <p:spPr>
          <a:xfrm>
            <a:off x="265500" y="1863133"/>
            <a:ext cx="4045200" cy="175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Coding?</a:t>
            </a:r>
            <a:endParaRPr/>
          </a:p>
        </p:txBody>
      </p:sp>
      <p:sp>
        <p:nvSpPr>
          <p:cNvPr id="91" name="Google Shape;91;p16"/>
          <p:cNvSpPr txBox="1"/>
          <p:nvPr>
            <p:ph idx="2" type="body"/>
          </p:nvPr>
        </p:nvSpPr>
        <p:spPr>
          <a:xfrm>
            <a:off x="4939500" y="965600"/>
            <a:ext cx="3837000" cy="4926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" sz="3000"/>
              <a:t>Understanding</a:t>
            </a:r>
            <a:endParaRPr sz="30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3000"/>
          </a:p>
          <a:p>
            <a:pPr indent="-419100" lvl="0" marL="457200" rtl="0" algn="l">
              <a:spcBef>
                <a:spcPts val="1600"/>
              </a:spcBef>
              <a:spcAft>
                <a:spcPts val="0"/>
              </a:spcAft>
              <a:buSzPts val="3000"/>
              <a:buChar char="●"/>
            </a:pPr>
            <a:r>
              <a:rPr lang="en" sz="3000"/>
              <a:t>Writing</a:t>
            </a:r>
            <a:endParaRPr sz="30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3000"/>
          </a:p>
          <a:p>
            <a:pPr indent="-419100" lvl="0" marL="457200" rtl="0" algn="l">
              <a:spcBef>
                <a:spcPts val="1600"/>
              </a:spcBef>
              <a:spcAft>
                <a:spcPts val="0"/>
              </a:spcAft>
              <a:buSzPts val="3000"/>
              <a:buChar char="●"/>
            </a:pPr>
            <a:r>
              <a:rPr lang="en" sz="3000"/>
              <a:t>Reading</a:t>
            </a:r>
            <a:endParaRPr sz="30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7"/>
          <p:cNvSpPr txBox="1"/>
          <p:nvPr>
            <p:ph type="title"/>
          </p:nvPr>
        </p:nvSpPr>
        <p:spPr>
          <a:xfrm>
            <a:off x="2400250" y="767933"/>
            <a:ext cx="6321600" cy="84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" sz="3600">
                <a:solidFill>
                  <a:schemeClr val="dk1"/>
                </a:solidFill>
              </a:rPr>
              <a:t>What is Simple Code</a:t>
            </a:r>
            <a:endParaRPr sz="24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17"/>
          <p:cNvSpPr txBox="1"/>
          <p:nvPr>
            <p:ph idx="1" type="body"/>
          </p:nvPr>
        </p:nvSpPr>
        <p:spPr>
          <a:xfrm>
            <a:off x="2410112" y="2127701"/>
            <a:ext cx="6321600" cy="400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Readable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spcBef>
                <a:spcPts val="1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Maintainable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spcBef>
                <a:spcPts val="1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Replaceable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8"/>
          <p:cNvSpPr txBox="1"/>
          <p:nvPr>
            <p:ph type="title"/>
          </p:nvPr>
        </p:nvSpPr>
        <p:spPr>
          <a:xfrm>
            <a:off x="2400250" y="767933"/>
            <a:ext cx="6321600" cy="84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chemeClr val="dk1"/>
                </a:solidFill>
              </a:rPr>
              <a:t>How to write Simple Code</a:t>
            </a:r>
            <a:endParaRPr sz="24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18"/>
          <p:cNvSpPr txBox="1"/>
          <p:nvPr>
            <p:ph idx="1" type="body"/>
          </p:nvPr>
        </p:nvSpPr>
        <p:spPr>
          <a:xfrm>
            <a:off x="2410112" y="1822901"/>
            <a:ext cx="6321600" cy="400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State intent with variable/function names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Reason about code in pseudo English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Avoid “mathspeak”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spcBef>
                <a:spcPts val="1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Compose behaviours using functions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Functions are a way to name blocks of code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Let the compiler check your logic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spcBef>
                <a:spcPts val="1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Keep everything local on the screen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Avoid mental gymnastics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Don’t abuse short-term memory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9"/>
          <p:cNvSpPr txBox="1"/>
          <p:nvPr>
            <p:ph type="title"/>
          </p:nvPr>
        </p:nvSpPr>
        <p:spPr>
          <a:xfrm>
            <a:off x="2400250" y="767933"/>
            <a:ext cx="6321600" cy="84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chemeClr val="dk1"/>
                </a:solidFill>
              </a:rPr>
              <a:t>Bad Code?</a:t>
            </a:r>
            <a:endParaRPr sz="24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19"/>
          <p:cNvSpPr txBox="1"/>
          <p:nvPr>
            <p:ph type="title"/>
          </p:nvPr>
        </p:nvSpPr>
        <p:spPr>
          <a:xfrm>
            <a:off x="2552650" y="5568533"/>
            <a:ext cx="6321600" cy="84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10" name="Google Shape;110;p19"/>
          <p:cNvPicPr preferRelativeResize="0"/>
          <p:nvPr/>
        </p:nvPicPr>
        <p:blipFill rotWithShape="1">
          <a:blip r:embed="rId3">
            <a:alphaModFix/>
          </a:blip>
          <a:srcRect b="47165" l="0" r="0" t="0"/>
          <a:stretch/>
        </p:blipFill>
        <p:spPr>
          <a:xfrm>
            <a:off x="1138925" y="1615125"/>
            <a:ext cx="7735325" cy="446163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0"/>
          <p:cNvSpPr txBox="1"/>
          <p:nvPr>
            <p:ph type="title"/>
          </p:nvPr>
        </p:nvSpPr>
        <p:spPr>
          <a:xfrm>
            <a:off x="2400250" y="767933"/>
            <a:ext cx="6321600" cy="84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chemeClr val="dk1"/>
                </a:solidFill>
              </a:rPr>
              <a:t>Better</a:t>
            </a:r>
            <a:r>
              <a:rPr lang="en" sz="3600">
                <a:solidFill>
                  <a:schemeClr val="dk1"/>
                </a:solidFill>
              </a:rPr>
              <a:t> Code?</a:t>
            </a:r>
            <a:endParaRPr sz="24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20"/>
          <p:cNvSpPr txBox="1"/>
          <p:nvPr>
            <p:ph type="title"/>
          </p:nvPr>
        </p:nvSpPr>
        <p:spPr>
          <a:xfrm>
            <a:off x="2552650" y="5568533"/>
            <a:ext cx="6321600" cy="84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17" name="Google Shape;117;p20"/>
          <p:cNvPicPr preferRelativeResize="0"/>
          <p:nvPr/>
        </p:nvPicPr>
        <p:blipFill rotWithShape="1">
          <a:blip r:embed="rId3">
            <a:alphaModFix/>
          </a:blip>
          <a:srcRect b="47257" l="0" r="0" t="0"/>
          <a:stretch/>
        </p:blipFill>
        <p:spPr>
          <a:xfrm>
            <a:off x="1138925" y="1615125"/>
            <a:ext cx="7735325" cy="445383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21"/>
          <p:cNvSpPr txBox="1"/>
          <p:nvPr>
            <p:ph type="title"/>
          </p:nvPr>
        </p:nvSpPr>
        <p:spPr>
          <a:xfrm>
            <a:off x="2400250" y="767933"/>
            <a:ext cx="6321600" cy="84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chemeClr val="dk1"/>
                </a:solidFill>
              </a:rPr>
              <a:t>Better Code</a:t>
            </a:r>
            <a:endParaRPr sz="24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21"/>
          <p:cNvSpPr txBox="1"/>
          <p:nvPr>
            <p:ph type="title"/>
          </p:nvPr>
        </p:nvSpPr>
        <p:spPr>
          <a:xfrm>
            <a:off x="2552650" y="5568533"/>
            <a:ext cx="6321600" cy="84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24" name="Google Shape;124;p21"/>
          <p:cNvPicPr preferRelativeResize="0"/>
          <p:nvPr/>
        </p:nvPicPr>
        <p:blipFill rotWithShape="1">
          <a:blip r:embed="rId3">
            <a:alphaModFix/>
          </a:blip>
          <a:srcRect b="54477" l="0" r="0" t="0"/>
          <a:stretch/>
        </p:blipFill>
        <p:spPr>
          <a:xfrm>
            <a:off x="1138925" y="1615125"/>
            <a:ext cx="7735325" cy="384410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2"/>
          <p:cNvSpPr txBox="1"/>
          <p:nvPr>
            <p:ph type="title"/>
          </p:nvPr>
        </p:nvSpPr>
        <p:spPr>
          <a:xfrm>
            <a:off x="2400250" y="767933"/>
            <a:ext cx="6321600" cy="84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" sz="3600">
                <a:solidFill>
                  <a:schemeClr val="dk1"/>
                </a:solidFill>
              </a:rPr>
              <a:t>Effects of Simple Code</a:t>
            </a:r>
            <a:endParaRPr sz="24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22"/>
          <p:cNvSpPr txBox="1"/>
          <p:nvPr>
            <p:ph idx="1" type="body"/>
          </p:nvPr>
        </p:nvSpPr>
        <p:spPr>
          <a:xfrm>
            <a:off x="2410112" y="1822901"/>
            <a:ext cx="6321600" cy="400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Easier to present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Code fits on one screen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No need to memorise variables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spcBef>
                <a:spcPts val="1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Easier to write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State intent first, implement later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Break down a problem stepwise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spcBef>
                <a:spcPts val="1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Easier to maintain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Self-documenting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Navigable without external tools (IDE)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3"/>
          <p:cNvSpPr txBox="1"/>
          <p:nvPr>
            <p:ph type="title"/>
          </p:nvPr>
        </p:nvSpPr>
        <p:spPr>
          <a:xfrm>
            <a:off x="2400250" y="767933"/>
            <a:ext cx="6321600" cy="84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References</a:t>
            </a:r>
            <a:endParaRPr/>
          </a:p>
        </p:txBody>
      </p:sp>
      <p:sp>
        <p:nvSpPr>
          <p:cNvPr id="136" name="Google Shape;136;p23"/>
          <p:cNvSpPr txBox="1"/>
          <p:nvPr>
            <p:ph idx="1" type="body"/>
          </p:nvPr>
        </p:nvSpPr>
        <p:spPr>
          <a:xfrm>
            <a:off x="2410112" y="2127701"/>
            <a:ext cx="6321600" cy="400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Gregory, K. (2018). </a:t>
            </a:r>
            <a:r>
              <a:rPr i="1" lang="en" sz="1000"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CppCon 2018: Kate Gregory “Simplicity: Not Just For Beginners”</a:t>
            </a:r>
            <a:r>
              <a:rPr lang="en" sz="1000"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. [online] YouTube. Available at: https://www.youtube.com/watch?v=n0Ak6xtVXno [Accessed 10 Mar. 2019].</a:t>
            </a:r>
            <a:endParaRPr sz="1000"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en" sz="1000"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Wild, R. (2018). </a:t>
            </a:r>
            <a:r>
              <a:rPr i="1" lang="en" sz="1000"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Higher-Order Functions I: Function Composition and the Monad Pattern - DZone Java</a:t>
            </a:r>
            <a:r>
              <a:rPr lang="en" sz="1000"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. [online] dzone.com. Available at: https://dzone.com/articles/higher-order-functions-i-function-composition-and [Accessed 13 Mar. 2019].</a:t>
            </a:r>
            <a:endParaRPr sz="1000"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4"/>
          <p:cNvSpPr txBox="1"/>
          <p:nvPr>
            <p:ph type="title"/>
          </p:nvPr>
        </p:nvSpPr>
        <p:spPr>
          <a:xfrm>
            <a:off x="406425" y="2409100"/>
            <a:ext cx="8296800" cy="2055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Thank you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wiss">
  <a:themeElements>
    <a:clrScheme name="Swiss">
      <a:dk1>
        <a:srgbClr val="F46524"/>
      </a:dk1>
      <a:lt1>
        <a:srgbClr val="FFFFFF"/>
      </a:lt1>
      <a:dk2>
        <a:srgbClr val="000000"/>
      </a:dk2>
      <a:lt2>
        <a:srgbClr val="757575"/>
      </a:lt2>
      <a:accent1>
        <a:srgbClr val="01579B"/>
      </a:accent1>
      <a:accent2>
        <a:srgbClr val="27C7BD"/>
      </a:accent2>
      <a:accent3>
        <a:srgbClr val="0099E8"/>
      </a:accent3>
      <a:accent4>
        <a:srgbClr val="51B9A3"/>
      </a:accent4>
      <a:accent5>
        <a:srgbClr val="FB8C00"/>
      </a:accent5>
      <a:accent6>
        <a:srgbClr val="FFAE88"/>
      </a:accent6>
      <a:hlink>
        <a:srgbClr val="0277BD"/>
      </a:hlink>
      <a:folHlink>
        <a:srgbClr val="0277B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